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056304-6C91-4AAF-974D-D1E057C5C3FB}">
  <a:tblStyle styleId="{0C056304-6C91-4AAF-974D-D1E057C5C3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67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0D7C8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1FB8CD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915" y="411480"/>
            <a:ext cx="5029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AirAware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15" y="1234440"/>
            <a:ext cx="6583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Digital Twin &amp; Machine Learning System for Indoor Air Quality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901952"/>
            <a:ext cx="7772400" cy="27432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2920" y="20299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SCRUM Agile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679192" y="20299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679192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AIoT — Midterm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55464" y="20299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55464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2 Weeks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031736" y="20299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031736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· NumPy · Streamlit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02915" y="2843790"/>
            <a:ext cx="6583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700"/>
              <a:buFont typeface="Calibri"/>
              <a:buNone/>
            </a:pPr>
            <a:r>
              <a:rPr lang="en-US" sz="1200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Product Owner / Developer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02875" y="3248625"/>
            <a:ext cx="245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Muhammad Luthfi Zafir - 113023203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02940" y="3395565"/>
            <a:ext cx="6583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700"/>
              <a:buFont typeface="Calibri"/>
              <a:buNone/>
            </a:pPr>
            <a:r>
              <a:rPr lang="en-US" sz="1200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02900" y="3800400"/>
            <a:ext cx="245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Yadhu Kiran - 114611036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3575244" y="2779782"/>
            <a:ext cx="6583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700"/>
              <a:buFont typeface="Calibri"/>
              <a:buNone/>
            </a:pPr>
            <a:r>
              <a:rPr lang="en-US" sz="1200" dirty="0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575204" y="3141953"/>
            <a:ext cx="245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Samrudh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KM - 114711007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4;p3">
            <a:extLst>
              <a:ext uri="{FF2B5EF4-FFF2-40B4-BE49-F238E27FC236}">
                <a16:creationId xmlns:a16="http://schemas.microsoft.com/office/drawing/2014/main" id="{1ABFE3AC-0AA7-454F-AFDF-EA4543972B41}"/>
              </a:ext>
            </a:extLst>
          </p:cNvPr>
          <p:cNvSpPr/>
          <p:nvPr/>
        </p:nvSpPr>
        <p:spPr>
          <a:xfrm>
            <a:off x="3575244" y="3345733"/>
            <a:ext cx="6583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7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Data Analyst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5;p3">
            <a:extLst>
              <a:ext uri="{FF2B5EF4-FFF2-40B4-BE49-F238E27FC236}">
                <a16:creationId xmlns:a16="http://schemas.microsoft.com/office/drawing/2014/main" id="{0439C2AA-7D2A-4202-B91A-33B7084F0FC0}"/>
              </a:ext>
            </a:extLst>
          </p:cNvPr>
          <p:cNvSpPr/>
          <p:nvPr/>
        </p:nvSpPr>
        <p:spPr>
          <a:xfrm>
            <a:off x="3575204" y="3730704"/>
            <a:ext cx="245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IN" sz="1200" b="1" dirty="0" err="1">
                <a:solidFill>
                  <a:schemeClr val="bg1"/>
                </a:solidFill>
                <a:effectLst/>
                <a:latin typeface="Batang" panose="02030600000101010101" pitchFamily="18" charset="-127"/>
                <a:cs typeface="Batang" panose="02030600000101010101" pitchFamily="18" charset="-127"/>
              </a:rPr>
              <a:t>吳秉哲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  </a:t>
            </a:r>
            <a:r>
              <a:rPr lang="en-IN" sz="11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112021088 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37160" y="320157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AirAware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37160" y="74980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SCRUM Report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4663440"/>
            <a:ext cx="164592" cy="164592"/>
          </a:xfrm>
          <a:prstGeom prst="ellipse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40080" y="4663440"/>
            <a:ext cx="164592" cy="164592"/>
          </a:xfrm>
          <a:prstGeom prst="ellipse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22960" y="4663440"/>
            <a:ext cx="164592" cy="164592"/>
          </a:xfrm>
          <a:prstGeom prst="ellipse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200400" y="2286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0" y="822960"/>
            <a:ext cx="411480" cy="54864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0400" y="1005840"/>
            <a:ext cx="438912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200400" y="100584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730752" y="100584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730752" y="1252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Background, objectives &amp; tech stack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00400" y="1673352"/>
            <a:ext cx="438912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200400" y="1673352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730752" y="16733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SCRUM Framework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730752" y="1920240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Roles, ceremonies &amp; product backlog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200400" y="2340864"/>
            <a:ext cx="438912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200400" y="2340864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730752" y="2340864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Sprint 1 — Data Layer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730752" y="2587752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CSV loading, preprocessing &amp; validation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200400" y="3008376"/>
            <a:ext cx="438912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200400" y="3008376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730752" y="3008376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Sprint 2 — ML &amp; Digital Twin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730752" y="3255264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Ridge regression, predictions &amp; twin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200400" y="3675888"/>
            <a:ext cx="438912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200400" y="3675888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730752" y="367588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Sprint 3 — Dashboard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730752" y="3922776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Visualisation, testing &amp; integration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200400" y="4343400"/>
            <a:ext cx="438912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200400" y="4343400"/>
            <a:ext cx="4389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730752" y="43434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Results &amp; Retrospective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730752" y="459028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results, velocity &amp; lessons learned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20040" y="164592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2004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PROJECT OVERVIEW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148840" y="137160"/>
            <a:ext cx="6675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AirAware?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0040" y="105156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An AIoT system that monitors, simulates and predicts indoor air quality across multiple rooms using a Digital Twin architecture.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20040" y="1920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5-LAYER ARCHITECTURE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20040" y="2240280"/>
            <a:ext cx="4114800" cy="475488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320040" y="224028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49808" y="227685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49808" y="24871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1,000 CSV records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20040" y="2715768"/>
            <a:ext cx="4114800" cy="82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20040" y="2788920"/>
            <a:ext cx="4114800" cy="475488"/>
          </a:xfrm>
          <a:prstGeom prst="rect">
            <a:avLst/>
          </a:prstGeom>
          <a:solidFill>
            <a:srgbClr val="1FB8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20040" y="27889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49808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49808" y="303580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Clean &amp; preprocess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20040" y="3337560"/>
            <a:ext cx="4114800" cy="475488"/>
          </a:xfrm>
          <a:prstGeom prst="rect">
            <a:avLst/>
          </a:prstGeom>
          <a:solidFill>
            <a:srgbClr val="0B6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20040" y="333756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49808" y="337413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49808" y="358444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Ridge Regression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20040" y="3886200"/>
            <a:ext cx="4114800" cy="475488"/>
          </a:xfrm>
          <a:prstGeom prst="rect">
            <a:avLst/>
          </a:prstGeom>
          <a:solidFill>
            <a:srgbClr val="0E5A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20040" y="388620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49808" y="39227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49808" y="4133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3 virtual rooms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20040" y="4434840"/>
            <a:ext cx="4114800" cy="475488"/>
          </a:xfrm>
          <a:prstGeom prst="rect">
            <a:avLst/>
          </a:prstGeom>
          <a:solidFill>
            <a:srgbClr val="0A4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320040" y="443484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49808" y="447141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Visualisation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49808" y="468172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Streamlit dashboard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846320" y="100584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846320" y="1371600"/>
            <a:ext cx="397764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846320" y="1371600"/>
            <a:ext cx="73152" cy="77724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532120" y="14630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Pandas + NumPy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532120" y="1746504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pipeline &amp; ML (no sklearn)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846320" y="2286000"/>
            <a:ext cx="397764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846320" y="2286000"/>
            <a:ext cx="73152" cy="77724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532120" y="23774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Ridge Regression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532120" y="2660904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Multi-output, λ=0.15, pure NumPy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846320" y="3200400"/>
            <a:ext cx="397764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846320" y="3200400"/>
            <a:ext cx="73152" cy="77724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532120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532120" y="3575304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Live dashboard, 5-sec auto-refresh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46320" y="4114800"/>
            <a:ext cx="397764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846320" y="4114800"/>
            <a:ext cx="73152" cy="77724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532120" y="42062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IoT Dataset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532120" y="4489704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1,000 real sensor readings, 10 occupants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20040" y="164592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2004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SCRUM FRAMEWORK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148840" y="137160"/>
            <a:ext cx="6675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Roles, Ceremonies &amp; Backlog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20040" y="1051560"/>
            <a:ext cx="2697480" cy="1280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20040" y="1051560"/>
            <a:ext cx="2697480" cy="73152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188698" y="1170425"/>
            <a:ext cx="100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" y="164592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Defines vision, prioritises backlog, accepts deliverables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200400" y="1051560"/>
            <a:ext cx="2697480" cy="1280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200400" y="1051560"/>
            <a:ext cx="2697480" cy="73152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083240" y="1170425"/>
            <a:ext cx="931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337560" y="164592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Facilitates ceremonies, removes blockers, enforces process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080760" y="1051560"/>
            <a:ext cx="2697480" cy="1280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080760" y="1051560"/>
            <a:ext cx="2697480" cy="73152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188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6806846" y="1170425"/>
            <a:ext cx="1245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Development Team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217920" y="164592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Designs, builds and tests all system components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20040" y="24871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CEREMONIES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20040" y="2788920"/>
            <a:ext cx="1993392" cy="50292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20040" y="278892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Planning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313432" y="2788920"/>
            <a:ext cx="182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496312" y="2788920"/>
            <a:ext cx="1993392" cy="502920"/>
          </a:xfrm>
          <a:prstGeom prst="rect">
            <a:avLst/>
          </a:prstGeom>
          <a:solidFill>
            <a:srgbClr val="1FB8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2496312" y="278892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Daily Stand-up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489704" y="2788920"/>
            <a:ext cx="182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672584" y="2788920"/>
            <a:ext cx="1993392" cy="50292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672584" y="278892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Review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665976" y="2788920"/>
            <a:ext cx="182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848856" y="2788920"/>
            <a:ext cx="1993392" cy="502920"/>
          </a:xfrm>
          <a:prstGeom prst="rect">
            <a:avLst/>
          </a:prstGeom>
          <a:solidFill>
            <a:srgbClr val="1FB8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848856" y="278892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Retrospective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20040" y="34564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SPRINT PLAN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6"/>
          <p:cNvGraphicFramePr/>
          <p:nvPr/>
        </p:nvGraphicFramePr>
        <p:xfrm>
          <a:off x="320040" y="3749040"/>
          <a:ext cx="8503925" cy="1115600"/>
        </p:xfrm>
        <a:graphic>
          <a:graphicData uri="http://schemas.openxmlformats.org/drawingml/2006/table">
            <a:tbl>
              <a:tblPr>
                <a:noFill/>
                <a:tableStyleId>{0C056304-6C91-4AAF-974D-D1E057C5C3FB}</a:tableStyleId>
              </a:tblPr>
              <a:tblGrid>
                <a:gridCol w="109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Duration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Collection &amp; Processing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DONE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</a:t>
                      </a: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&amp; Digital Twin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DONE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</a:t>
                      </a: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Dashboard, Testing &amp; Integration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DONE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143000" y="13716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 &amp; Processing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143000" y="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WEEK 1 – 2  |  14 STORY POINTS  |  STATUS: DONE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20040" y="1005840"/>
            <a:ext cx="8503920" cy="502920"/>
          </a:xfrm>
          <a:prstGeom prst="rect">
            <a:avLst/>
          </a:prstGeom>
          <a:solidFill>
            <a:srgbClr val="0D7C8F">
              <a:alpha val="14901"/>
            </a:srgbClr>
          </a:solidFill>
          <a:ln w="9525" cap="flat" cmpd="sng">
            <a:solidFill>
              <a:srgbClr val="0D7C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02920" y="102412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Sprint Goal: Build a robust data ingestion and preprocessing layer — the foundation for all ML and visualisation work.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20040" y="1645920"/>
            <a:ext cx="2697480" cy="228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20040" y="1645920"/>
            <a:ext cx="2697480" cy="4754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0992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868680" y="16916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load_csv_data()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2231136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1,000 records loaded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25786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Timestamps parsed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7200" y="29260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Room labels assigned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57200" y="32735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12 numeric columns converted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200400" y="1645920"/>
            <a:ext cx="2697480" cy="228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200400" y="1645920"/>
            <a:ext cx="2697480" cy="4754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7560" y="170992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3749040" y="16916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preprocess_row()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337560" y="2231136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AQI → [0, 300]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37560" y="25786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Temp → [10, 45°C]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337560" y="29260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Humidity → [0, 100%]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337560" y="32735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CO2 → [300–5000 ppm]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080760" y="1645920"/>
            <a:ext cx="2697480" cy="228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080760" y="1645920"/>
            <a:ext cx="2697480" cy="4754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7920" y="170992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6629400" y="16916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Room Simulation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217920" y="2231136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Deterministic Gaussian offsets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217920" y="25786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Seeded by room + timestamp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217920" y="29260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±2.5 AQI, ±0.8°C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217920" y="32735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✓  ±1.5% RH, ±8 ppm CO2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7"/>
          <p:cNvGraphicFramePr/>
          <p:nvPr/>
        </p:nvGraphicFramePr>
        <p:xfrm>
          <a:off x="320028" y="4069093"/>
          <a:ext cx="8503925" cy="975400"/>
        </p:xfrm>
        <a:graphic>
          <a:graphicData uri="http://schemas.openxmlformats.org/drawingml/2006/table">
            <a:tbl>
              <a:tblPr>
                <a:noFill/>
                <a:tableStyleId>{0C056304-6C91-4AAF-974D-D1E057C5C3FB}</a:tableStyleId>
              </a:tblPr>
              <a:tblGrid>
                <a:gridCol w="512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Case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 Loading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A4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7A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0.5 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Processing (clamp)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A4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7A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1 ms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Integrity (0 missing)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A4D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7A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F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solidFill>
            <a:srgbClr val="1FB8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143000" y="13716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&amp; Digital Twin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143000" y="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WEEK 3 – 4  |  23 STORY POINTS  |  STATUS: DONE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RIDGE REGRESSION MODEL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20040" y="1325880"/>
            <a:ext cx="4114800" cy="31089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11480" y="137160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Algorithm: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874520" y="1371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Multi-Output Ridge Regression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0040" y="1673352"/>
            <a:ext cx="4114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11480" y="171907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Regularisation: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874520" y="17190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λ = 0.15 (L2)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20040" y="2020824"/>
            <a:ext cx="4114800" cy="31089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11480" y="2066544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Input X: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874520" y="206654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[1, AQI, Temp, Humidity, CO2]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20040" y="2368296"/>
            <a:ext cx="4114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11480" y="24140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Output 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874520" y="241401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[next AQI, Temp, Humidity, CO2]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20040" y="2715768"/>
            <a:ext cx="4114800" cy="31089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11480" y="27614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Weight Matrix W: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874520" y="276148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Shape (5 × 4)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20040" y="3063240"/>
            <a:ext cx="4114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11480" y="31089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Formula: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874520" y="310896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 = (XᵀX + λI)⁻¹ Xᵀy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20040" y="3410712"/>
            <a:ext cx="4114800" cy="31089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11480" y="34564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Train/Test: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874520" y="345643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80% train / 20% test (sequential)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28590" y="3767309"/>
            <a:ext cx="4114800" cy="31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320030" y="3813029"/>
            <a:ext cx="1417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Library: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783070" y="3813029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Pure NumPy — no sklearn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754880" y="100584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ML EVALUATION (20% TEST SET)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54880" y="1325880"/>
            <a:ext cx="4069080" cy="4206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754880" y="1325880"/>
            <a:ext cx="64008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4919472" y="136245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AQI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537960" y="138074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MAE: ~2.3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537960" y="1545336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~3.1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8200" y="14173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4754880" y="1801368"/>
            <a:ext cx="4069080" cy="4206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754880" y="1801368"/>
            <a:ext cx="64008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919472" y="1837944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537960" y="185623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MAE: ~0.4°C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537960" y="202082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~0.6°C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8200" y="18928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4754880" y="2276856"/>
            <a:ext cx="4069080" cy="4206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4754880" y="2276856"/>
            <a:ext cx="64008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919472" y="231343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537960" y="233172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MAE: ~1.2%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537960" y="24963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~1.8%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8200" y="23682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4754880" y="2752344"/>
            <a:ext cx="4069080" cy="4206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754880" y="2752344"/>
            <a:ext cx="64008" cy="420624"/>
          </a:xfrm>
          <a:prstGeom prst="rect">
            <a:avLst/>
          </a:prstGeom>
          <a:solidFill>
            <a:srgbClr val="1FB8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919472" y="278892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537960" y="280720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B8CD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FB8CD"/>
                </a:solidFill>
                <a:latin typeface="Calibri"/>
                <a:ea typeface="Calibri"/>
                <a:cs typeface="Calibri"/>
                <a:sym typeface="Calibri"/>
              </a:rPr>
              <a:t>MAE: ~8.5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537960" y="297180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RMSE: ~12.4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8200" y="2843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/>
          <p:nvPr/>
        </p:nvSpPr>
        <p:spPr>
          <a:xfrm>
            <a:off x="4754880" y="329184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DIGITAL TWIN LAYER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754880" y="3593592"/>
            <a:ext cx="4069080" cy="4206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892040" y="36301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create_room_entity()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892040" y="3803904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Instantiates virtual room with current + predicted state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754880" y="4078224"/>
            <a:ext cx="4069080" cy="4206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892040" y="41148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get_sensor_data()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892040" y="4288536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Fetches CSV readings at active timestep for all 3 rooms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754880" y="4562856"/>
            <a:ext cx="4069080" cy="4206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892040" y="459943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hydrate_predictions()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892040" y="477316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Runs ML inference per room; stores forecasts in twin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0" y="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143000" y="13716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Dashboard, Testing &amp; Integration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143000" y="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WEEK 5 – 6  |  29 STORY POINTS  |  STATUS: DONE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TENANT 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OWNER 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20040" y="1353312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056" y="14630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/>
          <p:nvPr/>
        </p:nvSpPr>
        <p:spPr>
          <a:xfrm>
            <a:off x="832104" y="1408176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AQI Health Badge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32104" y="163677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Green / Orange / Red EPA bands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20040" y="1956816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" y="20665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832104" y="201168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Wellness Score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32104" y="22402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AQI + temp + humidity composite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320040" y="2560320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" name="Google Shape;286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8056" y="2670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/>
          <p:nvPr/>
        </p:nvSpPr>
        <p:spPr>
          <a:xfrm>
            <a:off x="832104" y="261518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Trend Charts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32104" y="284378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AQI live + predicted next step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20040" y="3163824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056" y="32735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/>
          <p:nvPr/>
        </p:nvSpPr>
        <p:spPr>
          <a:xfrm>
            <a:off x="832104" y="321868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CO2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832104" y="344728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Optimal / Normal / Elevated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709160" y="1353312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4" name="Google Shape;294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37176" y="14630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5221224" y="1408176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All-Room Comparison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221224" y="163677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 sorted by AQI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709160" y="1956816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8" name="Google Shape;298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37176" y="20665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5221224" y="201168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Property Condition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221224" y="22402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Humidity-based: Good/Dry/Critical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709160" y="2560320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37176" y="2670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5221224" y="261518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Smart Alerts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221224" y="284378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Abnormal sensor value detection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709160" y="3163824"/>
            <a:ext cx="4114800" cy="5303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37176" y="32735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/>
          <p:nvPr/>
        </p:nvSpPr>
        <p:spPr>
          <a:xfrm>
            <a:off x="5221224" y="321868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Best/Worst Room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221224" y="344728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Highlights at-risk rooms instantly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26280" y="1005840"/>
            <a:ext cx="73152" cy="3566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320040" y="3813048"/>
            <a:ext cx="850392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502920" y="38221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 Auto-refresh every 5 seconds via st_autorefresh  |  Session-state timestamp advances each cycle  |  Model trained once and cached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457200" y="164592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Results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57200" y="7772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7 / 7 Tests Passed — 100% Pass Rate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20040" y="1261872"/>
            <a:ext cx="8503920" cy="45720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20040" y="1261872"/>
            <a:ext cx="384048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20040" y="1261872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795528" y="133502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 Loading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977640" y="13533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309360" y="135331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&lt; 0.5 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7699248" y="1353312"/>
            <a:ext cx="822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7699248" y="13533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20040" y="1783080"/>
            <a:ext cx="8503920" cy="4572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320040" y="1783080"/>
            <a:ext cx="384048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320040" y="178308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795528" y="185623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3977640" y="1874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309360" y="1874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&lt; 1 ms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7699248" y="1874520"/>
            <a:ext cx="822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7699248" y="1874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20040" y="2304288"/>
            <a:ext cx="8503920" cy="45720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320040" y="2304288"/>
            <a:ext cx="384048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320040" y="230428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795528" y="2377440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Training (5×4)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977640" y="23957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309360" y="239572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&lt; 0.01 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7699248" y="2395728"/>
            <a:ext cx="822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7699248" y="2395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20040" y="2825496"/>
            <a:ext cx="8503920" cy="4572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320040" y="2825496"/>
            <a:ext cx="384048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320040" y="2825496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795528" y="289864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Evaluation (MAE/RMSE)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3977640" y="29169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63093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699248" y="2916936"/>
            <a:ext cx="822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7699248" y="291693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20040" y="3346704"/>
            <a:ext cx="8503920" cy="45720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320040" y="3346704"/>
            <a:ext cx="384048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320040" y="3346704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795528" y="3419856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Inference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977640" y="34381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Digital Twin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6309360" y="34381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&lt; 0.01 ms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7699248" y="3438144"/>
            <a:ext cx="822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7699248" y="34381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20040" y="3867912"/>
            <a:ext cx="8503920" cy="4572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320040" y="3867912"/>
            <a:ext cx="384048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320040" y="3867912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95528" y="394106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Refresh Cycle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977640" y="39593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6309360" y="39593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&lt; 5 ms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7699248" y="3959352"/>
            <a:ext cx="822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7699248" y="39593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20040" y="4389120"/>
            <a:ext cx="8503920" cy="45720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320040" y="4389120"/>
            <a:ext cx="384048" cy="4572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320040" y="438912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795528" y="446227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Integrity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977640" y="4480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309360" y="44805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699248" y="4480560"/>
            <a:ext cx="822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7699248" y="44805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0D7C8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457200" y="483717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evaluate.py: Standalone MAE/RMSE script confirms model accuracy independently of Streamlit 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320040" y="164592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32004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RESULTS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2148840" y="137160"/>
            <a:ext cx="6675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Velocity &amp; Burndown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320040" y="1051560"/>
            <a:ext cx="192024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365760" y="11430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365760" y="17099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Story Points Delivered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2377440" y="1051560"/>
            <a:ext cx="192024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2423160" y="11430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3/3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2423160" y="17099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Sprints On 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434840" y="1051560"/>
            <a:ext cx="192024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4480560" y="11430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4480560" y="17099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Velocity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492240" y="1051560"/>
            <a:ext cx="192024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6537960" y="11430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6 wks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6537960" y="17099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Duration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423160"/>
            <a:ext cx="429768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1"/>
          <p:cNvSpPr/>
          <p:nvPr/>
        </p:nvSpPr>
        <p:spPr>
          <a:xfrm>
            <a:off x="4892040" y="23774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DEFINITION OF DONE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4892040" y="2697480"/>
            <a:ext cx="393192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1" name="Google Shape;40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0912" y="27614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1"/>
          <p:cNvSpPr/>
          <p:nvPr/>
        </p:nvSpPr>
        <p:spPr>
          <a:xfrm>
            <a:off x="5330952" y="2770632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Code reviewed and committed to repo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4892040" y="3127248"/>
            <a:ext cx="393192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4" name="Google Shape;404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0912" y="3191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1"/>
          <p:cNvSpPr/>
          <p:nvPr/>
        </p:nvSpPr>
        <p:spPr>
          <a:xfrm>
            <a:off x="5330952" y="320040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All relevant test.py cases pass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892040" y="3557016"/>
            <a:ext cx="393192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7" name="Google Shape;40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0912" y="36210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1"/>
          <p:cNvSpPr/>
          <p:nvPr/>
        </p:nvSpPr>
        <p:spPr>
          <a:xfrm>
            <a:off x="5330952" y="3630168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evaluate.py MAE within bounds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892040" y="3986784"/>
            <a:ext cx="393192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0912" y="4050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1"/>
          <p:cNvSpPr/>
          <p:nvPr/>
        </p:nvSpPr>
        <p:spPr>
          <a:xfrm>
            <a:off x="5330952" y="4059936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Feature visible in Streamlit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892040" y="4416552"/>
            <a:ext cx="393192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3" name="Google Shape;41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0912" y="44805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1"/>
          <p:cNvSpPr/>
          <p:nvPr/>
        </p:nvSpPr>
        <p:spPr>
          <a:xfrm>
            <a:off x="5330952" y="4489704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No regressions in prior passing tests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320040" y="164592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32004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RETROSPECTIVE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2148840" y="137160"/>
            <a:ext cx="6675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 &amp; Risk Register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320040" y="9875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320040" y="1298448"/>
            <a:ext cx="4114800" cy="6217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640099" y="1362456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Pure NumPy 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640099" y="160020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Avoided sklearn/scipy; ensured Python 3.13+ compatibility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320040" y="1993392"/>
            <a:ext cx="4114800" cy="6217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640099" y="205740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Sequential splits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640099" y="2295144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No-shuffle splits prevent data leakage in time-series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320040" y="2688336"/>
            <a:ext cx="4114800" cy="6217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640099" y="2752344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Clear DoD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40099" y="2990088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Test-linked DoD made sprint completion objective &amp; unambiguous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320040" y="3383280"/>
            <a:ext cx="4114800" cy="6217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640099" y="3447288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Dual scripts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40099" y="3685032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evaluate.py + test.py separation sped up debugging cycles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320040" y="4078224"/>
            <a:ext cx="4114800" cy="6217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640099" y="4142232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SCRUM ceremonies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40099" y="4379976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Even lightweight dailies kept priorities aligned across 6 weeks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4709160" y="9875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C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7C8F"/>
                </a:solidFill>
                <a:latin typeface="Calibri"/>
                <a:ea typeface="Calibri"/>
                <a:cs typeface="Calibri"/>
                <a:sym typeface="Calibri"/>
              </a:rPr>
              <a:t>RISK REGISTER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4709160" y="1298448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4709160" y="1298448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4873752" y="13533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Python 3.13+ scipy incompatibility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873752" y="16002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Mitigation: Pure NumPy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873752" y="1847088"/>
            <a:ext cx="109728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4873752" y="184708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Mitigated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709160" y="2194560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4709160" y="2194560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4873752" y="22494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CSV schema drift / missing values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873752" y="24963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Mitigation: pd.to_numeric coerce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873752" y="2743200"/>
            <a:ext cx="109728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4873752" y="274320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709160" y="3090672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4709160" y="3090672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4873752" y="314553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Model underfitting (linear only)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4873752" y="339242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Mitigation: Evaluated 80/20 split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4873752" y="3639312"/>
            <a:ext cx="10972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4873752" y="363931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709160" y="3986784"/>
            <a:ext cx="4114800" cy="8046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F4F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4709160" y="3986784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873752" y="40416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Streamlit perf on auto-refresh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873752" y="428853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Mitigation: Cached model/data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4873752" y="4535424"/>
            <a:ext cx="109728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4873752" y="45354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Mitigated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D7C8F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1FB8CD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C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502920" y="2286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Complete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502920" y="9144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AirAware — AIoT Midterm Deliverable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502920" y="1508760"/>
            <a:ext cx="2578608" cy="1097280"/>
          </a:xfrm>
          <a:prstGeom prst="rect">
            <a:avLst/>
          </a:prstGeom>
          <a:solidFill>
            <a:srgbClr val="0D7C8F">
              <a:alpha val="20000"/>
            </a:srgbClr>
          </a:solidFill>
          <a:ln w="9525" cap="flat" cmpd="sng">
            <a:solidFill>
              <a:srgbClr val="1FB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6" name="Google Shape;47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737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3"/>
          <p:cNvSpPr/>
          <p:nvPr/>
        </p:nvSpPr>
        <p:spPr>
          <a:xfrm>
            <a:off x="1216152" y="1645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1216152" y="2103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Sprint Velocity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3291840" y="1508760"/>
            <a:ext cx="2578608" cy="1097280"/>
          </a:xfrm>
          <a:prstGeom prst="rect">
            <a:avLst/>
          </a:prstGeom>
          <a:solidFill>
            <a:srgbClr val="0D7C8F">
              <a:alpha val="20000"/>
            </a:srgbClr>
          </a:solidFill>
          <a:ln w="9525" cap="flat" cmpd="sng">
            <a:solidFill>
              <a:srgbClr val="1FB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0" name="Google Shape;480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4720" y="1737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3"/>
          <p:cNvSpPr/>
          <p:nvPr/>
        </p:nvSpPr>
        <p:spPr>
          <a:xfrm>
            <a:off x="4005072" y="1645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7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005072" y="2103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Tests Passed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6080760" y="1508760"/>
            <a:ext cx="2578608" cy="1097280"/>
          </a:xfrm>
          <a:prstGeom prst="rect">
            <a:avLst/>
          </a:prstGeom>
          <a:solidFill>
            <a:srgbClr val="0D7C8F">
              <a:alpha val="20000"/>
            </a:srgbClr>
          </a:solidFill>
          <a:ln w="9525" cap="flat" cmpd="sng">
            <a:solidFill>
              <a:srgbClr val="1FB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4" name="Google Shape;484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3640" y="1737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3"/>
          <p:cNvSpPr/>
          <p:nvPr/>
        </p:nvSpPr>
        <p:spPr>
          <a:xfrm>
            <a:off x="6793992" y="1645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6793992" y="2103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Sprints On Time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502920" y="2788920"/>
            <a:ext cx="2578608" cy="1097280"/>
          </a:xfrm>
          <a:prstGeom prst="rect">
            <a:avLst/>
          </a:prstGeom>
          <a:solidFill>
            <a:srgbClr val="0D7C8F">
              <a:alpha val="20000"/>
            </a:srgbClr>
          </a:solidFill>
          <a:ln w="9525" cap="flat" cmpd="sng">
            <a:solidFill>
              <a:srgbClr val="1FB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8" name="Google Shape;488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3"/>
          <p:cNvSpPr/>
          <p:nvPr/>
        </p:nvSpPr>
        <p:spPr>
          <a:xfrm>
            <a:off x="1216152" y="2926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&lt;0.01ms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1216152" y="33832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Inference Latency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3291840" y="2788920"/>
            <a:ext cx="2578608" cy="1097280"/>
          </a:xfrm>
          <a:prstGeom prst="rect">
            <a:avLst/>
          </a:prstGeom>
          <a:solidFill>
            <a:srgbClr val="0D7C8F">
              <a:alpha val="20000"/>
            </a:srgbClr>
          </a:solidFill>
          <a:ln w="9525" cap="flat" cmpd="sng">
            <a:solidFill>
              <a:srgbClr val="1FB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2" name="Google Shape;492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4720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3"/>
          <p:cNvSpPr/>
          <p:nvPr/>
        </p:nvSpPr>
        <p:spPr>
          <a:xfrm>
            <a:off x="4005072" y="2926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005072" y="33832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Records Processed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6080760" y="2788920"/>
            <a:ext cx="2578608" cy="1097280"/>
          </a:xfrm>
          <a:prstGeom prst="rect">
            <a:avLst/>
          </a:prstGeom>
          <a:solidFill>
            <a:srgbClr val="0D7C8F">
              <a:alpha val="20000"/>
            </a:srgbClr>
          </a:solidFill>
          <a:ln w="9525" cap="flat" cmpd="sng">
            <a:solidFill>
              <a:srgbClr val="1FB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6" name="Google Shape;496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63640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3"/>
          <p:cNvSpPr/>
          <p:nvPr/>
        </p:nvSpPr>
        <p:spPr>
          <a:xfrm>
            <a:off x="6793992" y="2926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6793992" y="33832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Rooms Monitored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1076</Words>
  <Application>Microsoft Office PowerPoint</Application>
  <PresentationFormat>On-screen Show (16:9)</PresentationFormat>
  <Paragraphs>302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Batang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yadhu kiran</cp:lastModifiedBy>
  <cp:revision>1</cp:revision>
  <dcterms:modified xsi:type="dcterms:W3CDTF">2026-06-08T04:37:35Z</dcterms:modified>
</cp:coreProperties>
</file>