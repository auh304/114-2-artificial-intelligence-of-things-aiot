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A3E9B-87A3-D258-EBCA-D51E271C28EA}" v="133" dt="2026-06-08T07:35:32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DBDAB-08E5-4484-A894-D2EC67C6CDA0}" type="datetimeFigureOut"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F0D6D-D322-4130-AD12-9A97A1E1E7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00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5998" y="310940"/>
            <a:ext cx="1847921" cy="301823"/>
          </a:xfrm>
          <a:prstGeom prst="roundRect">
            <a:avLst>
              <a:gd name="adj" fmla="val 30265606"/>
            </a:avLst>
          </a:prstGeom>
          <a:solidFill>
            <a:srgbClr val="DBEAFE"/>
          </a:solidFill>
          <a:ln/>
        </p:spPr>
        <p:txBody>
          <a:bodyPr wrap="square" lIns="114300" tIns="114300" rIns="114300" bIns="11430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Sprint 3 Final Report</a:t>
            </a:r>
            <a:endParaRPr lang="en-US" sz="1100">
              <a:latin typeface="Georgia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2840006" y="2735392"/>
            <a:ext cx="3321430" cy="1892523"/>
          </a:xfrm>
          <a:prstGeom prst="round2Diag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6690" y="799198"/>
            <a:ext cx="8290620" cy="1388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796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Georgia"/>
                <a:ea typeface="Literata" pitchFamily="34" charset="-122"/>
                <a:cs typeface="Literata" pitchFamily="34" charset="-120"/>
              </a:rPr>
              <a:t>Spatial Diamond Grid</a:t>
            </a:r>
            <a:endParaRPr lang="en-US" sz="4800">
              <a:latin typeface="Georgia"/>
              <a:ea typeface="Calibri"/>
              <a:cs typeface="Calibri"/>
            </a:endParaRPr>
          </a:p>
          <a:p>
            <a:pPr marL="0" indent="0" algn="ctr">
              <a:lnSpc>
                <a:spcPts val="5796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Georgia"/>
                <a:ea typeface="Literata" pitchFamily="34" charset="-122"/>
                <a:cs typeface="Literata" pitchFamily="34" charset="-120"/>
              </a:rPr>
              <a:t>Edge-AI Campus Monitor</a:t>
            </a:r>
            <a:endParaRPr lang="en-US" sz="4800">
              <a:latin typeface="Georgia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3784" y="2271801"/>
            <a:ext cx="845643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56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Final Integration and Triangulation Optimization</a:t>
            </a:r>
            <a:endParaRPr lang="en-US" sz="1560" dirty="0">
              <a:latin typeface="Georgi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78131" y="2918716"/>
            <a:ext cx="2780349" cy="19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SCRUM Roles</a:t>
            </a:r>
            <a:endParaRPr lang="en-US" sz="1050" dirty="0">
              <a:latin typeface="Georgi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78131" y="3219601"/>
            <a:ext cx="2780349" cy="251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Product Owner:</a:t>
            </a:r>
            <a:r>
              <a:rPr lang="en-US" sz="126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Msibi Sandziso</a:t>
            </a:r>
            <a:endParaRPr lang="en-US" sz="1260" dirty="0">
              <a:latin typeface="Georgi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78131" y="3535712"/>
            <a:ext cx="2780349" cy="251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Scrum Master:</a:t>
            </a:r>
            <a:r>
              <a:rPr lang="en-US" sz="126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Mariane Lara</a:t>
            </a:r>
            <a:endParaRPr lang="en-US" sz="1260" dirty="0">
              <a:latin typeface="Georgi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78131" y="3851823"/>
            <a:ext cx="2780349" cy="251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Developer:</a:t>
            </a:r>
            <a:r>
              <a:rPr lang="en-US" sz="126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Dlamini Thabani</a:t>
            </a:r>
            <a:endParaRPr lang="en-US" sz="1260" dirty="0">
              <a:latin typeface="Georgi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78131" y="4248049"/>
            <a:ext cx="2780349" cy="19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Sprint Window:</a:t>
            </a:r>
            <a:r>
              <a:rPr lang="en-US" sz="105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May 13 - May 28</a:t>
            </a:r>
            <a:endParaRPr lang="en-US" sz="1050" dirty="0">
              <a:latin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203" y="193748"/>
            <a:ext cx="1483953" cy="301823"/>
          </a:xfrm>
          <a:prstGeom prst="roundRect">
            <a:avLst>
              <a:gd name="adj" fmla="val 30265606"/>
            </a:avLst>
          </a:prstGeom>
          <a:solidFill>
            <a:srgbClr val="DBEAFE"/>
          </a:solidFill>
          <a:ln/>
        </p:spPr>
        <p:txBody>
          <a:bodyPr wrap="square" lIns="114300" tIns="114300" rIns="114300" bIns="114300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4ED8"/>
                </a:solidFill>
                <a:latin typeface="Georgia"/>
                <a:ea typeface="+mn-lt"/>
                <a:cs typeface="+mn-lt"/>
              </a:rPr>
              <a:t>Sprint Overview</a:t>
            </a:r>
            <a:endParaRPr lang="en-US" sz="1100">
              <a:latin typeface="Georgia"/>
              <a:ea typeface="+mn-lt"/>
              <a:cs typeface="+mn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3203" y="1147468"/>
            <a:ext cx="2597347" cy="1933184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  <a:ea typeface="+mn-lt"/>
              <a:cs typeface="+mn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30193" y="1147468"/>
            <a:ext cx="2597347" cy="1933184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  <a:ea typeface="+mn-lt"/>
              <a:cs typeface="+mn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57184" y="1147468"/>
            <a:ext cx="2597496" cy="1933184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  <a:ea typeface="+mn-lt"/>
              <a:cs typeface="+mn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3203" y="3375797"/>
            <a:ext cx="8173189" cy="1491903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  <a:ea typeface="+mn-lt"/>
              <a:cs typeface="+mn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403203" y="568209"/>
            <a:ext cx="8456432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F172A"/>
                </a:solidFill>
                <a:latin typeface="Georgia"/>
                <a:ea typeface="+mn-lt"/>
                <a:cs typeface="+mn-lt"/>
              </a:rPr>
              <a:t>Goals and scope of Sprint 3</a:t>
            </a:r>
            <a:endParaRPr lang="en-US" sz="2640" dirty="0">
              <a:latin typeface="Georgia"/>
              <a:ea typeface="+mn-lt"/>
              <a:cs typeface="+mn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1328" y="1291648"/>
            <a:ext cx="217213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05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GOAL 1</a:t>
            </a:r>
            <a:endParaRPr lang="en-US">
              <a:latin typeface="Georgia"/>
              <a:ea typeface="+mn-lt"/>
              <a:cs typeface="+mn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1328" y="1558348"/>
            <a:ext cx="2172130" cy="235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/>
                <a:ea typeface="+mn-lt"/>
                <a:cs typeface="+mn-lt"/>
              </a:rPr>
              <a:t>Fix false positives</a:t>
            </a:r>
            <a:endParaRPr lang="en-US" sz="1500" dirty="0">
              <a:latin typeface="Georgia"/>
              <a:ea typeface="+mn-lt"/>
              <a:cs typeface="+mn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1328" y="1845403"/>
            <a:ext cx="2128925" cy="1005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Correct the directional alert bug discovered in Sprint 2 so inactive zones report </a:t>
            </a:r>
            <a:r>
              <a:rPr lang="en-US" sz="1200" b="1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NONE</a:t>
            </a:r>
            <a:r>
              <a:rPr lang="en-US" sz="1200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 instead of a false source.</a:t>
            </a:r>
            <a:endParaRPr lang="en-US" sz="1200" dirty="0">
              <a:latin typeface="Georgia"/>
              <a:ea typeface="+mn-lt"/>
              <a:cs typeface="+mn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68318" y="1291648"/>
            <a:ext cx="217213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05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GOAL 2</a:t>
            </a:r>
            <a:endParaRPr lang="en-US">
              <a:latin typeface="Georgia"/>
              <a:ea typeface="+mn-lt"/>
              <a:cs typeface="+mn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68318" y="1558347"/>
            <a:ext cx="2164154" cy="286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/>
                <a:ea typeface="+mn-lt"/>
                <a:cs typeface="+mn-lt"/>
              </a:rPr>
              <a:t>Deploy 8-sensor array</a:t>
            </a:r>
            <a:endParaRPr lang="en-US" sz="1500" dirty="0">
              <a:latin typeface="Georgia"/>
              <a:ea typeface="+mn-lt"/>
              <a:cs typeface="+mn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68318" y="1943784"/>
            <a:ext cx="2128925" cy="80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Separate PM2.5 and CO inputs across four cardinal zones using an independent hardware layout.</a:t>
            </a:r>
            <a:endParaRPr lang="en-US" sz="1200" dirty="0">
              <a:latin typeface="Georgia"/>
              <a:ea typeface="+mn-lt"/>
              <a:cs typeface="+mn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95309" y="1291648"/>
            <a:ext cx="2172282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05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GOAL 3</a:t>
            </a:r>
            <a:endParaRPr lang="en-US">
              <a:latin typeface="Georgia"/>
              <a:ea typeface="+mn-lt"/>
              <a:cs typeface="+mn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95309" y="1558348"/>
            <a:ext cx="2172282" cy="235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/>
                <a:ea typeface="+mn-lt"/>
                <a:cs typeface="+mn-lt"/>
              </a:rPr>
              <a:t>Align ML schema</a:t>
            </a:r>
            <a:endParaRPr lang="en-US" sz="1500" dirty="0">
              <a:latin typeface="Georgia"/>
              <a:ea typeface="+mn-lt"/>
              <a:cs typeface="+mn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95309" y="1845403"/>
            <a:ext cx="2129074" cy="80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Rebuild input handling so the firmware data structure matches the training dataset columns directly.</a:t>
            </a:r>
            <a:endParaRPr lang="en-US" sz="1200" dirty="0">
              <a:latin typeface="Georgia"/>
              <a:ea typeface="+mn-lt"/>
              <a:cs typeface="+mn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1328" y="3613922"/>
            <a:ext cx="785714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05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SCOPE OF WORK</a:t>
            </a:r>
            <a:endParaRPr lang="en-US">
              <a:latin typeface="Georgia"/>
              <a:ea typeface="+mn-lt"/>
              <a:cs typeface="+mn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1328" y="3781719"/>
            <a:ext cx="2467911" cy="80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Hardware overhaul</a:t>
            </a:r>
            <a:endParaRPr lang="en-US" sz="1200" dirty="0">
              <a:latin typeface="Georgia"/>
              <a:ea typeface="+mn-lt"/>
              <a:cs typeface="+mn-lt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Isolate PM2.5 and CO for North, West, East, and South nodes.</a:t>
            </a:r>
            <a:endParaRPr lang="en-US" sz="1200" dirty="0">
              <a:latin typeface="Georgia"/>
              <a:ea typeface="+mn-lt"/>
              <a:cs typeface="+mn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96868" y="3918722"/>
            <a:ext cx="2467911" cy="80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Baseline spike filter</a:t>
            </a:r>
            <a:endParaRPr lang="en-US" sz="1200" dirty="0">
              <a:latin typeface="Georgia"/>
              <a:ea typeface="+mn-lt"/>
              <a:cs typeface="+mn-lt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Introduce a threshold gate to prevent clean-air leakage into alert logic.</a:t>
            </a:r>
            <a:endParaRPr lang="en-US" sz="1200" dirty="0">
              <a:latin typeface="Georgia"/>
              <a:ea typeface="+mn-lt"/>
              <a:cs typeface="+mn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60238" y="3781719"/>
            <a:ext cx="2468060" cy="80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Feature mapping</a:t>
            </a:r>
            <a:endParaRPr lang="en-US" sz="1200" dirty="0">
              <a:latin typeface="Georgia"/>
              <a:ea typeface="+mn-lt"/>
              <a:cs typeface="+mn-lt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Bind physical pin arrays directly to the 4-feature ML runtime layout.</a:t>
            </a:r>
            <a:endParaRPr lang="en-US" sz="1200" dirty="0">
              <a:latin typeface="Georgia"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90" y="346770"/>
            <a:ext cx="1510825" cy="301823"/>
          </a:xfrm>
          <a:prstGeom prst="roundRect">
            <a:avLst>
              <a:gd name="adj" fmla="val 30265606"/>
            </a:avLst>
          </a:prstGeom>
          <a:solidFill>
            <a:srgbClr val="DBEAFE"/>
          </a:solidFill>
          <a:ln/>
        </p:spPr>
        <p:txBody>
          <a:bodyPr wrap="square" lIns="114300" tIns="114300" rIns="114300" bIns="11430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Product </a:t>
            </a:r>
            <a:r>
              <a:rPr lang="en-US" sz="110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Backlog</a:t>
            </a:r>
            <a:endParaRPr lang="en-US" sz="1100">
              <a:latin typeface="Georgia"/>
              <a:ea typeface="Calibri"/>
              <a:cs typeface="Calibri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474672"/>
              </p:ext>
            </p:extLst>
          </p:nvPr>
        </p:nvGraphicFramePr>
        <p:xfrm>
          <a:off x="426690" y="1570583"/>
          <a:ext cx="8290620" cy="3226293"/>
        </p:xfrm>
        <a:graphic>
          <a:graphicData uri="http://schemas.openxmlformats.org/drawingml/2006/table">
            <a:tbl>
              <a:tblPr/>
              <a:tblGrid>
                <a:gridCol w="2072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2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A8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ID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A8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Feature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A8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Priority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A8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Status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1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Data Collection Module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High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Completed in Sprint 1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2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Spatial Averaging Framework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Medium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Dropped by Product Owner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3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Independent Multi-Node Engine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High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Completed in Sprint 2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4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Decoupled Air Pollutant Features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High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Completed in Sprint 3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5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Directional Source Tracer Compass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High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Completed in Sprint 3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6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Visual Telemetry Dashboard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Medium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Georgia"/>
                          <a:ea typeface="ui-sans-serif" pitchFamily="34" charset="-122"/>
                          <a:cs typeface="ui-sans-serif" pitchFamily="34" charset="-120"/>
                        </a:rPr>
                        <a:t>Completed in Sprint 3</a:t>
                      </a:r>
                      <a:endParaRPr lang="en-US" sz="1150">
                        <a:latin typeface="Georgia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426690" y="854813"/>
            <a:ext cx="864826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F172A"/>
                </a:solidFill>
                <a:latin typeface="Georgia"/>
                <a:ea typeface="Literata" pitchFamily="34" charset="-122"/>
                <a:cs typeface="Literata" pitchFamily="34" charset="-120"/>
              </a:rPr>
              <a:t>Updated sprint backlog status</a:t>
            </a:r>
            <a:endParaRPr lang="en-US" sz="2640" dirty="0">
              <a:latin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90" y="662304"/>
            <a:ext cx="1387770" cy="301823"/>
          </a:xfrm>
          <a:prstGeom prst="roundRect">
            <a:avLst>
              <a:gd name="adj" fmla="val 30265606"/>
            </a:avLst>
          </a:prstGeom>
          <a:solidFill>
            <a:srgbClr val="DBEAFE"/>
          </a:solidFill>
          <a:ln/>
        </p:spPr>
        <p:txBody>
          <a:bodyPr wrap="square" lIns="114300" tIns="114300" rIns="114300" bIns="11430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Task Allocation</a:t>
            </a:r>
            <a:endParaRPr lang="en-US" sz="1050">
              <a:latin typeface="Georgi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690" y="1917432"/>
            <a:ext cx="2764378" cy="20300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53680" y="1917432"/>
            <a:ext cx="2764378" cy="20300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80671" y="1917432"/>
            <a:ext cx="2764527" cy="20300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6690" y="1125400"/>
            <a:ext cx="8864075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F172A"/>
                </a:solidFill>
                <a:latin typeface="Georgia"/>
                <a:ea typeface="Literata" pitchFamily="34" charset="-122"/>
                <a:cs typeface="Literata" pitchFamily="34" charset="-120"/>
              </a:rPr>
              <a:t>Sprint planning execution</a:t>
            </a:r>
            <a:endParaRPr lang="en-US" sz="2640" dirty="0">
              <a:latin typeface="Georgi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4815" y="2030297"/>
            <a:ext cx="2311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/>
                </a:solidFill>
                <a:latin typeface="Georgia"/>
                <a:ea typeface="ui-sans-serif"/>
                <a:cs typeface="ui-sans-serif" pitchFamily="34" charset="-120"/>
              </a:rPr>
              <a:t>DEVELOPER A</a:t>
            </a:r>
            <a:endParaRPr lang="en-US" sz="1050">
              <a:latin typeface="Georgia"/>
              <a:ea typeface="ui-sans-serif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4815" y="2296997"/>
            <a:ext cx="2287635" cy="27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Hardware circuit duplication</a:t>
            </a:r>
            <a:endParaRPr lang="en-US" sz="1200">
              <a:latin typeface="Georgia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6986" y="2592403"/>
            <a:ext cx="2275892" cy="90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Added independent rotary dials for each cardinal node so each zone captures separate PM2.5 and CO values.</a:t>
            </a:r>
            <a:endParaRPr lang="en-US" sz="1200" dirty="0">
              <a:latin typeface="Georgi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6986" y="3566824"/>
            <a:ext cx="231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Status: Completed</a:t>
            </a:r>
            <a:endParaRPr lang="en-US" sz="1200">
              <a:solidFill>
                <a:srgbClr val="1E4ED8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91805" y="2030297"/>
            <a:ext cx="2311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/>
                </a:solidFill>
                <a:latin typeface="Georgia"/>
                <a:ea typeface="ui-sans-serif"/>
                <a:cs typeface="ui-sans-serif" pitchFamily="34" charset="-120"/>
              </a:rPr>
              <a:t>DEVELOPER B</a:t>
            </a:r>
            <a:endParaRPr lang="en-US" sz="1050">
              <a:latin typeface="Georgia"/>
              <a:ea typeface="ui-sans-serif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91805" y="2296997"/>
            <a:ext cx="2287635" cy="27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Calibration and filtering</a:t>
            </a:r>
            <a:endParaRPr lang="en-US" sz="1200">
              <a:latin typeface="Georgia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83976" y="2592403"/>
            <a:ext cx="2275892" cy="91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Built the SPIKE_THRESHOLD = 400 baseline filter to remove the faulty zero-value directional alert condition.</a:t>
            </a:r>
            <a:endParaRPr lang="en-US" sz="1200" dirty="0">
              <a:latin typeface="Georgi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83976" y="3566824"/>
            <a:ext cx="231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Status: Completed</a:t>
            </a:r>
            <a:endParaRPr lang="en-US" sz="1200">
              <a:solidFill>
                <a:srgbClr val="1E4ED8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18796" y="2030297"/>
            <a:ext cx="23115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/>
                </a:solidFill>
                <a:latin typeface="Georgia"/>
                <a:ea typeface="ui-sans-serif"/>
                <a:cs typeface="ui-sans-serif" pitchFamily="34" charset="-120"/>
              </a:rPr>
              <a:t>DEVELOPER</a:t>
            </a:r>
            <a:r>
              <a:rPr lang="en-US" sz="1050" dirty="0">
                <a:solidFill>
                  <a:srgbClr val="000000"/>
                </a:solidFill>
                <a:latin typeface="Georgia"/>
                <a:ea typeface="ui-sans-serif"/>
                <a:cs typeface="ui-sans-serif" pitchFamily="34" charset="-120"/>
              </a:rPr>
              <a:t> C</a:t>
            </a:r>
            <a:endParaRPr lang="en-US" sz="1050" dirty="0">
              <a:latin typeface="Georgia"/>
              <a:ea typeface="ui-sans-serif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18796" y="2296997"/>
            <a:ext cx="2287784" cy="263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Pipeline reconstruction</a:t>
            </a:r>
            <a:endParaRPr lang="en-US" sz="1200">
              <a:latin typeface="Georgia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10967" y="2592403"/>
            <a:ext cx="2276041" cy="900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Mapped eight raw extractions to the normalized four-feature array consumed by the embedded ML engine.</a:t>
            </a:r>
            <a:endParaRPr lang="en-US" sz="1200" dirty="0">
              <a:latin typeface="Georgi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10967" y="3566824"/>
            <a:ext cx="2311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Status: Completed</a:t>
            </a:r>
            <a:endParaRPr lang="en-US" sz="1200">
              <a:solidFill>
                <a:srgbClr val="1E4ED8"/>
              </a:solidFill>
              <a:latin typeface="Georgia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90" y="769195"/>
            <a:ext cx="1716881" cy="301823"/>
          </a:xfrm>
          <a:prstGeom prst="roundRect">
            <a:avLst>
              <a:gd name="adj" fmla="val 30265606"/>
            </a:avLst>
          </a:prstGeom>
          <a:solidFill>
            <a:srgbClr val="DBEAFE"/>
          </a:solidFill>
          <a:ln/>
        </p:spPr>
        <p:txBody>
          <a:bodyPr wrap="square" lIns="114300" tIns="114300" rIns="114300" bIns="11430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System</a:t>
            </a:r>
            <a:r>
              <a:rPr lang="en-US" sz="95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05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Architecture</a:t>
            </a:r>
            <a:endParaRPr lang="en-US" sz="105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690" y="1713675"/>
            <a:ext cx="4392067" cy="2329140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6690" y="1157342"/>
            <a:ext cx="4911612" cy="54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70"/>
              </a:lnSpc>
              <a:buNone/>
            </a:pPr>
            <a:r>
              <a:rPr lang="en-US" sz="2580" b="1" dirty="0">
                <a:solidFill>
                  <a:srgbClr val="0F172A"/>
                </a:solidFill>
                <a:latin typeface="Georgia"/>
                <a:ea typeface="Literata" pitchFamily="34" charset="-122"/>
                <a:cs typeface="Literata" pitchFamily="34" charset="-120"/>
              </a:rPr>
              <a:t>Final integrated architecture</a:t>
            </a:r>
            <a:endParaRPr lang="en-US" sz="2580" dirty="0"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4815" y="1951800"/>
            <a:ext cx="3911903" cy="19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72"/>
              </a:lnSpc>
              <a:buSzPct val="100000"/>
              <a:buChar char="•"/>
            </a:pPr>
            <a:r>
              <a:rPr lang="en-US" sz="1248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Physical layer:</a:t>
            </a:r>
            <a:r>
              <a:rPr lang="en-US" sz="1248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Four cardinal nodes arranged in a spatial diamond topology.</a:t>
            </a:r>
            <a:endParaRPr lang="en-US" sz="1248" dirty="0">
              <a:latin typeface="Georgia"/>
            </a:endParaRPr>
          </a:p>
          <a:p>
            <a:pPr marL="342900" indent="-342900">
              <a:lnSpc>
                <a:spcPts val="1872"/>
              </a:lnSpc>
              <a:buSzPct val="100000"/>
              <a:buChar char="•"/>
            </a:pPr>
            <a:r>
              <a:rPr lang="en-US" sz="1248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Per-node hardware:</a:t>
            </a:r>
            <a:r>
              <a:rPr lang="en-US" sz="1248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1 DHT22 plus 2 isolated analog gas emulators.</a:t>
            </a:r>
            <a:endParaRPr lang="en-US" sz="1248" dirty="0">
              <a:latin typeface="Georgia"/>
            </a:endParaRPr>
          </a:p>
          <a:p>
            <a:pPr marL="342900" indent="-342900">
              <a:lnSpc>
                <a:spcPts val="1872"/>
              </a:lnSpc>
              <a:buSzPct val="100000"/>
              <a:buChar char="•"/>
            </a:pPr>
            <a:r>
              <a:rPr lang="en-US" sz="1248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Preprocessing:</a:t>
            </a:r>
            <a:r>
              <a:rPr lang="en-US" sz="1248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12-bit ADC input mapped from 0-4095 and normalized for tensor compatibility.</a:t>
            </a:r>
            <a:endParaRPr lang="en-US" sz="1248" dirty="0">
              <a:latin typeface="Georgia"/>
            </a:endParaRPr>
          </a:p>
          <a:p>
            <a:pPr marL="342900" indent="-342900">
              <a:lnSpc>
                <a:spcPts val="1872"/>
              </a:lnSpc>
              <a:buSzPct val="100000"/>
              <a:buChar char="•"/>
            </a:pPr>
            <a:r>
              <a:rPr lang="en-US" sz="1248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ML core:</a:t>
            </a:r>
            <a:r>
              <a:rPr lang="en-US" sz="1248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EloquentTinyML inference with a 4 KB memory arena to avoid ESP32 freezes.</a:t>
            </a:r>
            <a:endParaRPr lang="en-US" sz="1248" dirty="0">
              <a:latin typeface="Georgia"/>
            </a:endParaRPr>
          </a:p>
        </p:txBody>
      </p:sp>
      <p:pic>
        <p:nvPicPr>
          <p:cNvPr id="4" name="Picture 3" descr="A circuit board with wires and switches&#10;&#10;AI-generated content may be incorrect.">
            <a:extLst>
              <a:ext uri="{FF2B5EF4-FFF2-40B4-BE49-F238E27FC236}">
                <a16:creationId xmlns:a16="http://schemas.microsoft.com/office/drawing/2014/main" id="{BFF5A83E-A223-8519-2A42-847E8BE81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867" y="1698893"/>
            <a:ext cx="4237971" cy="30972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983540-9D1D-12A2-9E0A-1C035C51AE6C}"/>
              </a:ext>
            </a:extLst>
          </p:cNvPr>
          <p:cNvSpPr txBox="1"/>
          <p:nvPr/>
        </p:nvSpPr>
        <p:spPr>
          <a:xfrm>
            <a:off x="5570106" y="2877058"/>
            <a:ext cx="54941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ea typeface="Calibri"/>
                <a:cs typeface="Calibri"/>
              </a:rPr>
              <a:t>pm2.5</a:t>
            </a:r>
            <a:endParaRPr lang="en-US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BD53A-418D-CED2-31A9-6AC54A77302E}"/>
              </a:ext>
            </a:extLst>
          </p:cNvPr>
          <p:cNvSpPr txBox="1"/>
          <p:nvPr/>
        </p:nvSpPr>
        <p:spPr>
          <a:xfrm>
            <a:off x="6193632" y="2862210"/>
            <a:ext cx="35275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ea typeface="Calibri"/>
                <a:cs typeface="Calibri"/>
              </a:rPr>
              <a:t>co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63502" y="146046"/>
            <a:ext cx="1589038" cy="301823"/>
          </a:xfrm>
          <a:prstGeom prst="roundRect">
            <a:avLst>
              <a:gd name="adj" fmla="val 30265606"/>
            </a:avLst>
          </a:prstGeom>
          <a:solidFill>
            <a:srgbClr val="DBEAFE"/>
          </a:solidFill>
          <a:ln/>
        </p:spPr>
        <p:txBody>
          <a:bodyPr wrap="square" lIns="114300" tIns="114300" rIns="114300" bIns="11430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Dataset Alignment</a:t>
            </a:r>
            <a:endParaRPr lang="en-US" sz="1050">
              <a:latin typeface="Georgia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60641" y="1510159"/>
            <a:ext cx="4156520" cy="3311449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40659" y="530197"/>
            <a:ext cx="4176502" cy="755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70"/>
              </a:lnSpc>
              <a:buNone/>
            </a:pPr>
            <a:r>
              <a:rPr lang="en-US" sz="2580" b="1" dirty="0">
                <a:solidFill>
                  <a:srgbClr val="0F172A"/>
                </a:solidFill>
                <a:latin typeface="Georgia"/>
                <a:ea typeface="Literata" pitchFamily="34" charset="-122"/>
                <a:cs typeface="Literata" pitchFamily="34" charset="-120"/>
              </a:rPr>
              <a:t>Reconstructed feature mapping</a:t>
            </a:r>
            <a:endParaRPr lang="en-US" sz="2580" dirty="0"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62798" y="1748284"/>
            <a:ext cx="3716238" cy="950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72"/>
              </a:lnSpc>
              <a:buNone/>
            </a:pPr>
            <a:r>
              <a:rPr lang="en-US" sz="1248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Sprint 2 combined pollutant traces in a way that reduced feature resolution. Sprint 3 corrected this by mapping each physical value directly to the machine learning schema.</a:t>
            </a:r>
            <a:endParaRPr lang="en-US" sz="1248" dirty="0">
              <a:latin typeface="Georgia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62798" y="2769603"/>
            <a:ext cx="3790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Column 0:</a:t>
            </a: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PM2.5</a:t>
            </a:r>
            <a:endParaRPr lang="en-US" sz="1200" dirty="0">
              <a:latin typeface="Georg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62798" y="3112503"/>
            <a:ext cx="3790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Column 1:</a:t>
            </a: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CO</a:t>
            </a:r>
            <a:endParaRPr lang="en-US" sz="1200" dirty="0">
              <a:latin typeface="Georgia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62798" y="3455403"/>
            <a:ext cx="3790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Column 2:</a:t>
            </a: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Temperature</a:t>
            </a:r>
            <a:endParaRPr lang="en-US" sz="1200" dirty="0">
              <a:latin typeface="Georgi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62798" y="3798303"/>
            <a:ext cx="3790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Column 3:</a:t>
            </a: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Humidity</a:t>
            </a:r>
            <a:endParaRPr lang="en-US" sz="1200" dirty="0">
              <a:latin typeface="Georgi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62798" y="4029567"/>
            <a:ext cx="37162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Result: no duplicated channels, no merged pollutant streams, and one-to-one schema alignment.</a:t>
            </a:r>
            <a:endParaRPr lang="en-US" sz="1200" dirty="0">
              <a:latin typeface="Georgia"/>
            </a:endParaRPr>
          </a:p>
        </p:txBody>
      </p:sp>
      <p:pic>
        <p:nvPicPr>
          <p:cNvPr id="12" name="Picture 11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90E46741-5B94-D422-E618-D1DA6B8EC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72" y="621256"/>
            <a:ext cx="3995041" cy="41527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90" y="433958"/>
            <a:ext cx="1361060" cy="301823"/>
          </a:xfrm>
          <a:prstGeom prst="roundRect">
            <a:avLst>
              <a:gd name="adj" fmla="val 30265606"/>
            </a:avLst>
          </a:prstGeom>
          <a:solidFill>
            <a:srgbClr val="DBEAFE"/>
          </a:solidFill>
          <a:ln/>
        </p:spPr>
        <p:txBody>
          <a:bodyPr wrap="square" lIns="114300" tIns="114300" rIns="114300" bIns="11430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GPIO Mapping</a:t>
            </a:r>
            <a:endParaRPr lang="en-US" sz="105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690" y="4264080"/>
            <a:ext cx="8286623" cy="361684"/>
          </a:xfrm>
          <a:prstGeom prst="roundRect">
            <a:avLst>
              <a:gd name="adj" fmla="val 213333"/>
            </a:avLst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square" lIns="190500" tIns="190500" rIns="190500" bIns="19050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All analog pollutant inputs were routed through stable ADC-compatible lines to support isolated sensing and runtime stability.</a:t>
            </a:r>
            <a:endParaRPr lang="en-US" sz="1100">
              <a:latin typeface="Georgia"/>
              <a:ea typeface="Calibri"/>
              <a:cs typeface="Calibri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787093"/>
              </p:ext>
            </p:extLst>
          </p:nvPr>
        </p:nvGraphicFramePr>
        <p:xfrm>
          <a:off x="426690" y="1657771"/>
          <a:ext cx="8290620" cy="2301775"/>
        </p:xfrm>
        <a:graphic>
          <a:graphicData uri="http://schemas.openxmlformats.org/drawingml/2006/table">
            <a:tbl>
              <a:tblPr/>
              <a:tblGrid>
                <a:gridCol w="2072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2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3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b="1" dirty="0">
                          <a:solidFill>
                            <a:srgbClr val="1E3A8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Zone Direction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b="1" dirty="0">
                          <a:solidFill>
                            <a:srgbClr val="1E3A8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DHT22 Pin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b="1" dirty="0">
                          <a:solidFill>
                            <a:srgbClr val="1E3A8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PM2.5 Pin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b="1" dirty="0">
                          <a:solidFill>
                            <a:srgbClr val="1E3A8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CO Pin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North Node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GPIO 15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GPIO 34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GPIO 35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West Node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GPIO 16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GPIO 32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GPIO 33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East Node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GPIO 17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GPIO 25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GPIO 26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South Node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GPIO 13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GPIO 27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6" dirty="0">
                          <a:solidFill>
                            <a:srgbClr val="0F172A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GPIO 14</a:t>
                      </a:r>
                      <a:endParaRPr lang="en-US" sz="117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26690" y="850081"/>
            <a:ext cx="7820988" cy="52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F172A"/>
                </a:solidFill>
                <a:latin typeface="Georgia"/>
                <a:ea typeface="Literata" pitchFamily="34" charset="-122"/>
                <a:cs typeface="Literata" pitchFamily="34" charset="-120"/>
              </a:rPr>
              <a:t>Physical pin mapping matrix</a:t>
            </a:r>
            <a:endParaRPr lang="en-US" sz="2640" dirty="0">
              <a:latin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90" y="634595"/>
            <a:ext cx="1341756" cy="301823"/>
          </a:xfrm>
          <a:prstGeom prst="roundRect">
            <a:avLst>
              <a:gd name="adj" fmla="val 30265606"/>
            </a:avLst>
          </a:prstGeom>
          <a:solidFill>
            <a:srgbClr val="DBEAFE"/>
          </a:solidFill>
          <a:ln/>
        </p:spPr>
        <p:txBody>
          <a:bodyPr wrap="square" lIns="114300" tIns="114300" rIns="114300" bIns="11430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Embedded ML</a:t>
            </a:r>
            <a:endParaRPr lang="en-US" sz="105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690" y="1946331"/>
            <a:ext cx="4031010" cy="1803090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86300" y="1946331"/>
            <a:ext cx="4031010" cy="1803090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6690" y="1178606"/>
            <a:ext cx="8456432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F172A"/>
                </a:solidFill>
                <a:latin typeface="Georgia"/>
                <a:ea typeface="Literata" pitchFamily="34" charset="-122"/>
                <a:cs typeface="Literata" pitchFamily="34" charset="-120"/>
              </a:rPr>
              <a:t>Inference logic on the ESP32</a:t>
            </a:r>
            <a:endParaRPr lang="en-US" sz="2640" dirty="0"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4815" y="2096533"/>
            <a:ext cx="3625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>
                <a:solidFill>
                  <a:srgbClr val="000000"/>
                </a:solidFill>
                <a:latin typeface="Georgia"/>
              </a:rPr>
              <a:t>MODEL ENGINE</a:t>
            </a:r>
            <a:endParaRPr lang="en-US">
              <a:latin typeface="Georgi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0819" y="2343250"/>
            <a:ext cx="3714620" cy="49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0F172A"/>
                </a:solidFill>
                <a:latin typeface="Georgia"/>
                <a:ea typeface="ui-sans-serif"/>
                <a:cs typeface="ui-sans-serif" pitchFamily="34" charset="-120"/>
              </a:rPr>
              <a:t>TensorFlow Lite for Microcontrollers via </a:t>
            </a:r>
            <a:r>
              <a:rPr lang="en-US" sz="1500" b="1" dirty="0" err="1">
                <a:solidFill>
                  <a:srgbClr val="0F172A"/>
                </a:solidFill>
                <a:latin typeface="Georgia"/>
                <a:ea typeface="ui-sans-serif"/>
                <a:cs typeface="ui-sans-serif" pitchFamily="34" charset="-120"/>
              </a:rPr>
              <a:t>EloquentTinyML</a:t>
            </a:r>
            <a:endParaRPr lang="en-US" sz="1500" dirty="0" err="1">
              <a:latin typeface="Georgia"/>
              <a:ea typeface="ui-sans-serif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0818" y="2890239"/>
            <a:ext cx="355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Input vector: scaledPM25, scaledCO, scaledTemp, scaledHumidity</a:t>
            </a:r>
            <a:endParaRPr lang="en-US" sz="1200" dirty="0">
              <a:latin typeface="Georgi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4815" y="3349836"/>
            <a:ext cx="3554760" cy="265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Output: 1 confidence score from 0.0000 to 1.0000</a:t>
            </a:r>
            <a:endParaRPr lang="en-US" sz="1200" dirty="0">
              <a:latin typeface="Georgi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24425" y="2096533"/>
            <a:ext cx="3625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>
                <a:solidFill>
                  <a:srgbClr val="000000"/>
                </a:solidFill>
                <a:latin typeface="Georgia"/>
              </a:rPr>
              <a:t>DECISION RULE</a:t>
            </a:r>
            <a:endParaRPr lang="en-US">
              <a:latin typeface="Georgi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24425" y="2341385"/>
            <a:ext cx="3625855" cy="246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44"/>
              </a:lnSpc>
              <a:buNone/>
            </a:pPr>
            <a:r>
              <a:rPr lang="en-US" sz="1296" dirty="0">
                <a:solidFill>
                  <a:srgbClr val="000000"/>
                </a:solidFill>
                <a:latin typeface="Georgia"/>
                <a:ea typeface="ui-monospace" pitchFamily="34" charset="-122"/>
                <a:cs typeface="ui-monospace" pitchFamily="34" charset="-120"/>
              </a:rPr>
              <a:t>If Score &gt; 0.8 → STATUS: POOR</a:t>
            </a:r>
            <a:endParaRPr lang="en-US" sz="1296" dirty="0">
              <a:latin typeface="Georgi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24425" y="2588558"/>
            <a:ext cx="3625855" cy="246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44"/>
              </a:lnSpc>
              <a:buNone/>
            </a:pPr>
            <a:r>
              <a:rPr lang="en-US" sz="1296" dirty="0">
                <a:solidFill>
                  <a:srgbClr val="000000"/>
                </a:solidFill>
                <a:latin typeface="Georgia"/>
                <a:ea typeface="ui-monospace" pitchFamily="34" charset="-122"/>
                <a:cs typeface="ui-monospace" pitchFamily="34" charset="-120"/>
              </a:rPr>
              <a:t>If Score ≤ 0.8 → STATUS: GOOD</a:t>
            </a:r>
            <a:endParaRPr lang="en-US" sz="1296" dirty="0">
              <a:latin typeface="Georgi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24425" y="2914062"/>
            <a:ext cx="355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Safety overrides also trigger if temperature falls outside 15.0°C to 33.0°C or raw pollutant values exceed 2200.</a:t>
            </a:r>
            <a:endParaRPr lang="en-US" sz="1200" dirty="0">
              <a:latin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90" y="635661"/>
            <a:ext cx="1669511" cy="301823"/>
          </a:xfrm>
          <a:prstGeom prst="roundRect">
            <a:avLst>
              <a:gd name="adj" fmla="val 30265606"/>
            </a:avLst>
          </a:prstGeom>
          <a:solidFill>
            <a:srgbClr val="DBEAFE"/>
          </a:solidFill>
          <a:ln/>
        </p:spPr>
        <p:txBody>
          <a:bodyPr wrap="square" lIns="114300" tIns="114300" rIns="114300" bIns="114300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Directional Tracer</a:t>
            </a:r>
            <a:endParaRPr lang="en-US" sz="110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690" y="1947397"/>
            <a:ext cx="1958280" cy="1601133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2537371" y="1947397"/>
            <a:ext cx="1958429" cy="1601133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48200" y="1947397"/>
            <a:ext cx="1958280" cy="1601133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58880" y="1947397"/>
            <a:ext cx="1958429" cy="1601133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6690" y="1195658"/>
            <a:ext cx="8456432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F172A"/>
                </a:solidFill>
                <a:latin typeface="Georgia"/>
                <a:ea typeface="Literata" pitchFamily="34" charset="-122"/>
                <a:cs typeface="Literata" pitchFamily="34" charset="-120"/>
              </a:rPr>
              <a:t>Source compass algorithm</a:t>
            </a:r>
            <a:endParaRPr lang="en-US" sz="2640" dirty="0">
              <a:latin typeface="Georg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6715" y="2091471"/>
            <a:ext cx="15893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/>
                </a:solidFill>
                <a:latin typeface="Georgia"/>
                <a:ea typeface="ui-sans-serif"/>
                <a:cs typeface="ui-sans-serif" pitchFamily="34" charset="-120"/>
              </a:rPr>
              <a:t>STEP</a:t>
            </a:r>
            <a:r>
              <a:rPr lang="en-US" sz="105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1</a:t>
            </a:r>
            <a:endParaRPr lang="en-US" sz="1050">
              <a:latin typeface="Georgi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6715" y="2282237"/>
            <a:ext cx="15893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Initialize baseline</a:t>
            </a:r>
            <a:endParaRPr lang="en-US" sz="1200" dirty="0">
              <a:latin typeface="Georgi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6715" y="2509239"/>
            <a:ext cx="15582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Set maxPM25Val = 400 and maxCOVal = 400 as the clean-air cutoff.</a:t>
            </a:r>
            <a:endParaRPr lang="en-US" sz="1200" dirty="0">
              <a:latin typeface="Georgi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37396" y="2091471"/>
            <a:ext cx="1589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/>
                </a:solidFill>
                <a:latin typeface="Georgia"/>
                <a:ea typeface="ui-sans-serif"/>
                <a:cs typeface="ui-sans-serif" pitchFamily="34" charset="-120"/>
              </a:rPr>
              <a:t>STEP</a:t>
            </a:r>
            <a:r>
              <a:rPr lang="en-US" sz="105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2</a:t>
            </a:r>
            <a:endParaRPr lang="en-US" sz="1050">
              <a:latin typeface="Georgi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37396" y="2282237"/>
            <a:ext cx="15895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Scan all nodes</a:t>
            </a:r>
            <a:endParaRPr lang="en-US" sz="1200" dirty="0">
              <a:latin typeface="Georgi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37396" y="2537214"/>
            <a:ext cx="15583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Compare pollutant values across North, West, East, and South channels.</a:t>
            </a:r>
            <a:endParaRPr lang="en-US" sz="1200" dirty="0">
              <a:latin typeface="Georgi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8225" y="2091471"/>
            <a:ext cx="15893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050">
                <a:solidFill>
                  <a:srgbClr val="000000"/>
                </a:solidFill>
                <a:latin typeface="Georgia"/>
              </a:rPr>
              <a:t>STEP 3</a:t>
            </a:r>
            <a:endParaRPr lang="en-US" sz="1050" dirty="0">
              <a:latin typeface="Georgi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8225" y="2286234"/>
            <a:ext cx="1558230" cy="249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Lock highest spike</a:t>
            </a:r>
            <a:endParaRPr lang="en-US" sz="1200" dirty="0">
              <a:latin typeface="Georgi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8225" y="2538013"/>
            <a:ext cx="15582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Capture the index of the strongest valid PM2.5 or CO source direction.</a:t>
            </a:r>
            <a:endParaRPr lang="en-US" sz="1200" dirty="0">
              <a:latin typeface="Georgi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958905" y="2091471"/>
            <a:ext cx="1589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050">
                <a:solidFill>
                  <a:srgbClr val="000000"/>
                </a:solidFill>
                <a:latin typeface="Georgia"/>
              </a:rPr>
              <a:t>STEP 4</a:t>
            </a:r>
            <a:endParaRPr lang="en-US" sz="1050" dirty="0">
              <a:latin typeface="Georgi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58905" y="2282237"/>
            <a:ext cx="1654295" cy="25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Return stable output</a:t>
            </a:r>
            <a:endParaRPr lang="en-US" sz="1200" dirty="0">
              <a:latin typeface="Georgi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58905" y="2538013"/>
            <a:ext cx="15583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Report NONE if no channel crosses the threshold and avoid false alarms.</a:t>
            </a:r>
            <a:endParaRPr lang="en-US" sz="1200" dirty="0">
              <a:latin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90" y="635794"/>
            <a:ext cx="1561058" cy="301823"/>
          </a:xfrm>
          <a:prstGeom prst="roundRect">
            <a:avLst>
              <a:gd name="adj" fmla="val 30265606"/>
            </a:avLst>
          </a:prstGeom>
          <a:solidFill>
            <a:srgbClr val="DBEAFE"/>
          </a:solidFill>
          <a:ln/>
        </p:spPr>
        <p:txBody>
          <a:bodyPr wrap="square" lIns="114300" tIns="114300" rIns="114300" bIns="11430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Challenges Solved</a:t>
            </a:r>
            <a:endParaRPr lang="en-US" sz="105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690" y="1987495"/>
            <a:ext cx="4031010" cy="1952559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86300" y="1987495"/>
            <a:ext cx="4031010" cy="1952559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6690" y="1199788"/>
            <a:ext cx="8456432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F172A"/>
                </a:solidFill>
                <a:latin typeface="Georgia"/>
                <a:ea typeface="Literata" pitchFamily="34" charset="-122"/>
                <a:cs typeface="Literata" pitchFamily="34" charset="-120"/>
              </a:rPr>
              <a:t>Key technical issues resolved</a:t>
            </a:r>
            <a:endParaRPr lang="en-US" sz="2640" dirty="0"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4815" y="2097732"/>
            <a:ext cx="3625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050">
                <a:solidFill>
                  <a:srgbClr val="000000"/>
                </a:solidFill>
                <a:latin typeface="Georgia"/>
              </a:rPr>
              <a:t>CHALLENGE 1</a:t>
            </a:r>
            <a:endParaRPr lang="en-US" sz="1050" dirty="0">
              <a:latin typeface="Georgi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4815" y="2308481"/>
            <a:ext cx="3625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Clean-air false-positive bug</a:t>
            </a:r>
            <a:endParaRPr lang="en-US" sz="1500" dirty="0">
              <a:latin typeface="Georg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0818" y="2639658"/>
            <a:ext cx="355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Issue:</a:t>
            </a: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Index values initialized at -1 caused the system to falsely accuse a node even when all sensors read zero.</a:t>
            </a:r>
            <a:endParaRPr lang="en-US" sz="1200" dirty="0">
              <a:latin typeface="Georgi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0819" y="3327856"/>
            <a:ext cx="3554760" cy="573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Solution:</a:t>
            </a: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Introduced SPIKE_THRESHOLD = 400 so inactive zones now correctly return NONE.</a:t>
            </a:r>
            <a:endParaRPr lang="en-US" sz="1200" dirty="0">
              <a:latin typeface="Georgi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24425" y="2097732"/>
            <a:ext cx="3625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050">
                <a:solidFill>
                  <a:srgbClr val="000000"/>
                </a:solidFill>
                <a:latin typeface="Georgia"/>
              </a:rPr>
              <a:t>CHALLENGE 2</a:t>
            </a:r>
            <a:endParaRPr lang="en-US" sz="1050" dirty="0">
              <a:latin typeface="Georgi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24425" y="2308481"/>
            <a:ext cx="3625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ESP32 pin resource collisions</a:t>
            </a:r>
            <a:endParaRPr lang="en-US" sz="1500" dirty="0">
              <a:latin typeface="Georgi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24425" y="2639658"/>
            <a:ext cx="355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Issue:</a:t>
            </a: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Expanding to eight analog pollutant sliders risked unstable ADC behavior and peripheral conflicts.</a:t>
            </a:r>
            <a:endParaRPr lang="en-US" sz="1200" dirty="0">
              <a:latin typeface="Georgi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24425" y="3327856"/>
            <a:ext cx="355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Solution:</a:t>
            </a: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 Routed inputs to stable pins 34, 35, 32, 33, 25, 26, 27, and 14 for safer execution.</a:t>
            </a:r>
            <a:endParaRPr lang="en-US" sz="1200" dirty="0">
              <a:latin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90" y="588169"/>
            <a:ext cx="2017812" cy="301823"/>
          </a:xfrm>
          <a:prstGeom prst="roundRect">
            <a:avLst>
              <a:gd name="adj" fmla="val 30265606"/>
            </a:avLst>
          </a:prstGeom>
          <a:solidFill>
            <a:srgbClr val="DBEAFE"/>
          </a:solidFill>
          <a:ln/>
        </p:spPr>
        <p:txBody>
          <a:bodyPr wrap="square" lIns="114300" tIns="114300" rIns="114300" bIns="11430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Review and Deliverables</a:t>
            </a:r>
            <a:endParaRPr lang="en-US" sz="105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690" y="1899905"/>
            <a:ext cx="4031010" cy="2031823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86300" y="1899905"/>
            <a:ext cx="4031010" cy="2031823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24425" y="3236003"/>
            <a:ext cx="1701105" cy="489572"/>
          </a:xfrm>
          <a:prstGeom prst="round2DiagRect">
            <a:avLst/>
          </a:prstGeom>
          <a:solidFill>
            <a:srgbClr val="EFF6FF"/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77930" y="3236003"/>
            <a:ext cx="1701254" cy="489572"/>
          </a:xfrm>
          <a:prstGeom prst="round2DiagRect">
            <a:avLst/>
          </a:prstGeom>
          <a:solidFill>
            <a:srgbClr val="ECFEFF"/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8662" y="976317"/>
            <a:ext cx="8456432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F172A"/>
                </a:solidFill>
                <a:latin typeface="Georgia"/>
                <a:ea typeface="Literata" pitchFamily="34" charset="-122"/>
                <a:cs typeface="Literata" pitchFamily="34" charset="-120"/>
              </a:rPr>
              <a:t>Completed Sprint 3 outputs</a:t>
            </a:r>
            <a:endParaRPr lang="en-US" sz="2640" dirty="0">
              <a:latin typeface="Georg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4815" y="2050107"/>
            <a:ext cx="3554760" cy="1684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72"/>
              </a:lnSpc>
              <a:buSzPct val="100000"/>
              <a:buFont typeface="Wingdings"/>
              <a:buChar char="ü"/>
            </a:pPr>
            <a:r>
              <a:rPr lang="en-US" sz="1248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Independent 8-sensor diamond hardware array.</a:t>
            </a:r>
            <a:endParaRPr lang="en-US" sz="1248" dirty="0">
              <a:latin typeface="Georgia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ts val="1872"/>
              </a:lnSpc>
              <a:buSzPct val="100000"/>
              <a:buFont typeface="Wingdings"/>
              <a:buChar char="ü"/>
            </a:pPr>
            <a:r>
              <a:rPr lang="en-US" sz="1248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Separated PM2.5 and CO feature channels for each node.</a:t>
            </a:r>
            <a:endParaRPr lang="en-US" sz="1248" dirty="0">
              <a:latin typeface="Georgia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ts val="1872"/>
              </a:lnSpc>
              <a:buSzPct val="100000"/>
              <a:buFont typeface="Wingdings"/>
              <a:buChar char="ü"/>
            </a:pPr>
            <a:r>
              <a:rPr lang="en-US" sz="1248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Directional tracer that correctly returns NONE for inactive zones.</a:t>
            </a:r>
            <a:endParaRPr lang="en-US" sz="1248" dirty="0">
              <a:latin typeface="Georgia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ts val="1872"/>
              </a:lnSpc>
              <a:buSzPct val="100000"/>
              <a:buFont typeface="Wingdings"/>
              <a:buChar char="ü"/>
            </a:pPr>
            <a:r>
              <a:rPr lang="en-US" sz="1248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Readable rolling telemetry log output for live validation.</a:t>
            </a:r>
            <a:endParaRPr lang="en-US" sz="1248" dirty="0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24425" y="2050107"/>
            <a:ext cx="3625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Georgia"/>
                <a:ea typeface="ui-sans-serif"/>
                <a:cs typeface="ui-sans-serif" pitchFamily="34" charset="-120"/>
              </a:rPr>
              <a:t>Stakeholder verification</a:t>
            </a:r>
            <a:endParaRPr lang="en-US" sz="1100" b="1">
              <a:latin typeface="Georgia"/>
              <a:ea typeface="ui-sans-serif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24425" y="2243005"/>
            <a:ext cx="355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All four zones were tested independently. Changing one parameter updated only the corresponding sensor row, confirming full isolation and correct calibration.</a:t>
            </a:r>
            <a:endParaRPr lang="en-US" sz="1200" dirty="0">
              <a:latin typeface="Georgi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86350" y="3397928"/>
            <a:ext cx="1404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Zones tested</a:t>
            </a:r>
            <a:endParaRPr lang="en-US" sz="1050" dirty="0">
              <a:latin typeface="Georgi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13539" y="3320662"/>
            <a:ext cx="2697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4</a:t>
            </a:r>
            <a:endParaRPr lang="en-US" sz="2250" dirty="0">
              <a:latin typeface="Georgi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39855" y="3397928"/>
            <a:ext cx="14049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Pollutant channels</a:t>
            </a:r>
            <a:endParaRPr lang="en-US" sz="1050" dirty="0">
              <a:latin typeface="Georgi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90848" y="3320662"/>
            <a:ext cx="2539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8</a:t>
            </a:r>
            <a:endParaRPr lang="en-US" sz="2250" dirty="0">
              <a:latin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697" y="483277"/>
            <a:ext cx="1303980" cy="301823"/>
          </a:xfrm>
          <a:prstGeom prst="roundRect">
            <a:avLst>
              <a:gd name="adj" fmla="val 30265606"/>
            </a:avLst>
          </a:prstGeom>
          <a:solidFill>
            <a:srgbClr val="DBEAFE"/>
          </a:solidFill>
          <a:ln/>
        </p:spPr>
        <p:txBody>
          <a:bodyPr wrap="square" lIns="114300" tIns="114300" rIns="114300" bIns="11430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4ED8"/>
                </a:solidFill>
                <a:latin typeface="Georgia"/>
                <a:ea typeface="ui-sans-serif"/>
                <a:cs typeface="ui-sans-serif" pitchFamily="34" charset="-120"/>
              </a:rPr>
              <a:t>Retrospective</a:t>
            </a:r>
            <a:endParaRPr lang="en-US" sz="105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0704" y="1507264"/>
            <a:ext cx="3627834" cy="3057193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0704" y="907393"/>
            <a:ext cx="8464425" cy="44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F172A"/>
                </a:solidFill>
                <a:latin typeface="Georgia"/>
                <a:ea typeface="Literata" pitchFamily="34" charset="-122"/>
                <a:cs typeface="Literata" pitchFamily="34" charset="-120"/>
              </a:rPr>
              <a:t>Lessons learned and live output</a:t>
            </a:r>
            <a:endParaRPr lang="en-US" sz="2640" dirty="0"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8829" y="1633487"/>
            <a:ext cx="3214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What went well</a:t>
            </a:r>
            <a:endParaRPr lang="en-US" sz="1050" b="1">
              <a:latin typeface="Georgia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8829" y="1820523"/>
            <a:ext cx="3151584" cy="1397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Font typeface="Wingdings"/>
              <a:buChar char="§"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Input telemetry was restructured to match the target dataset columns exactly.</a:t>
            </a:r>
            <a:endParaRPr lang="en-US" sz="1200" dirty="0">
              <a:latin typeface="Georgia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ts val="1800"/>
              </a:lnSpc>
              <a:buSzPct val="100000"/>
              <a:buFont typeface="Wingdings"/>
              <a:buChar char="§"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False directional tracking was corrected with a math-based baseline filter.</a:t>
            </a:r>
            <a:endParaRPr lang="en-US" sz="1200" dirty="0">
              <a:latin typeface="Georgia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ts val="1800"/>
              </a:lnSpc>
              <a:buSzPct val="100000"/>
              <a:buFont typeface="Wingdings"/>
              <a:buChar char="§"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Hardware topology now mirrors software array indexing clearly.</a:t>
            </a:r>
            <a:endParaRPr lang="en-US" sz="1200" dirty="0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8829" y="3326406"/>
            <a:ext cx="3214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What we learned</a:t>
            </a:r>
            <a:endParaRPr lang="en-US" sz="1050" b="1">
              <a:latin typeface="Georgia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8829" y="3521435"/>
            <a:ext cx="3151584" cy="92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Font typeface="Wingdings"/>
              <a:buChar char="§"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Dataset-driven hardware design reduces later formatting and mapping issues.</a:t>
            </a:r>
            <a:endParaRPr lang="en-US" sz="1200" dirty="0">
              <a:latin typeface="Georgia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ts val="1800"/>
              </a:lnSpc>
              <a:buSzPct val="100000"/>
              <a:buFont typeface="Wingdings"/>
              <a:buChar char="§"/>
            </a:pPr>
            <a:r>
              <a:rPr lang="en-US" sz="1200" dirty="0">
                <a:solidFill>
                  <a:srgbClr val="000000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Edge AI systems need defensive filtering to prevent unstable small-signal alerts.</a:t>
            </a:r>
            <a:endParaRPr lang="en-US" sz="1200" dirty="0">
              <a:latin typeface="Georgia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5" name="Picture 1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FB751F0D-79B1-AB9B-9A9C-871052905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82889"/>
            <a:ext cx="4509493" cy="7752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Picture 1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43C483E3-0851-168B-B322-B153BAAB0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85244"/>
            <a:ext cx="4509493" cy="6853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8FEFB332-E7FB-D86E-BF63-8A6AE154B1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8" y="2072462"/>
            <a:ext cx="4509494" cy="8110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C6A34C3-A192-6443-01B6-AD7B017A23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657438"/>
            <a:ext cx="4513957" cy="7664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Picture 18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44E1CD8B-9A7A-A894-5D6E-08A901A36A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1" y="4404858"/>
            <a:ext cx="4509492" cy="7539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22161" y="1106388"/>
            <a:ext cx="723682" cy="301823"/>
          </a:xfrm>
          <a:prstGeom prst="roundRect">
            <a:avLst>
              <a:gd name="adj" fmla="val 30265606"/>
            </a:avLst>
          </a:prstGeom>
          <a:solidFill>
            <a:srgbClr val="DBEAFE"/>
          </a:solidFill>
          <a:ln/>
        </p:spPr>
        <p:txBody>
          <a:bodyPr wrap="square" lIns="114300" tIns="114300" rIns="114300" bIns="11430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Georgia"/>
                <a:ea typeface="ui-sans-serif" pitchFamily="34" charset="-122"/>
                <a:cs typeface="ui-sans-serif" pitchFamily="34" charset="-120"/>
              </a:rPr>
              <a:t>Q&amp;A</a:t>
            </a:r>
            <a:endParaRPr lang="en-US" sz="105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32441" y="2793264"/>
            <a:ext cx="5063133" cy="380455"/>
          </a:xfrm>
          <a:prstGeom prst="round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0F172A"/>
            </a:solidFill>
          </a:ln>
          <a:effectLst>
            <a:outerShdw blurRad="285750" dist="952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3784" y="1654663"/>
            <a:ext cx="8456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Georgia"/>
                <a:ea typeface="Literata" pitchFamily="34" charset="-122"/>
                <a:cs typeface="Literata" pitchFamily="34" charset="-120"/>
              </a:rPr>
              <a:t>Thank You</a:t>
            </a:r>
            <a:endParaRPr lang="en-US" sz="4800" dirty="0">
              <a:latin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414</cp:revision>
  <dcterms:created xsi:type="dcterms:W3CDTF">2026-05-28T07:11:47Z</dcterms:created>
  <dcterms:modified xsi:type="dcterms:W3CDTF">2026-06-13T08:29:27Z</dcterms:modified>
</cp:coreProperties>
</file>